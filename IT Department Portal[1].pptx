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60" r:id="rId9"/>
    <p:sldId id="261" r:id="rId10"/>
    <p:sldId id="262" r:id="rId11"/>
    <p:sldId id="264" r:id="rId12"/>
    <p:sldId id="277" r:id="rId13"/>
    <p:sldId id="272" r:id="rId14"/>
    <p:sldId id="273" r:id="rId15"/>
    <p:sldId id="274" r:id="rId16"/>
    <p:sldId id="275" r:id="rId17"/>
    <p:sldId id="265" r:id="rId18"/>
    <p:sldId id="270" r:id="rId19"/>
    <p:sldId id="266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3C068-BD8E-4C30-8787-7EE7CFDCE17F}" v="1" dt="2025-10-08T09:30:58.745"/>
    <p1510:client id="{B969CB52-816C-460D-9B67-5F8C892F483F}" v="1" dt="2025-10-08T08:55:17.753"/>
  </p1510:revLst>
</p1510:revInfo>
</file>

<file path=ppt/tableStyles.xml><?xml version="1.0" encoding="utf-8"?>
<a:tblStyleLst xmlns:a="http://schemas.openxmlformats.org/drawingml/2006/main" def="{B463FCEE-C46F-49CF-A3D3-827796A64FD5}">
  <a:tblStyle styleId="{B463FCEE-C46F-49CF-A3D3-827796A64F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d Salunke" userId="9a30a149da14010b" providerId="LiveId" clId="{DD682CAA-75AB-451D-8442-6360CE77EB49}"/>
    <pc:docChg chg="undo custSel modSld">
      <pc:chgData name="Harshad Salunke" userId="9a30a149da14010b" providerId="LiveId" clId="{DD682CAA-75AB-451D-8442-6360CE77EB49}" dt="2025-10-08T09:37:44.329" v="127" actId="20577"/>
      <pc:docMkLst>
        <pc:docMk/>
      </pc:docMkLst>
      <pc:sldChg chg="modSp mod">
        <pc:chgData name="Harshad Salunke" userId="9a30a149da14010b" providerId="LiveId" clId="{DD682CAA-75AB-451D-8442-6360CE77EB49}" dt="2025-10-08T09:30:15.849" v="99" actId="20577"/>
        <pc:sldMkLst>
          <pc:docMk/>
          <pc:sldMk cId="0" sldId="256"/>
        </pc:sldMkLst>
        <pc:spChg chg="mod">
          <ac:chgData name="Harshad Salunke" userId="9a30a149da14010b" providerId="LiveId" clId="{DD682CAA-75AB-451D-8442-6360CE77EB49}" dt="2025-10-08T09:30:15.849" v="99" actId="20577"/>
          <ac:spMkLst>
            <pc:docMk/>
            <pc:sldMk cId="0" sldId="256"/>
            <ac:spMk id="186" creationId="{00000000-0000-0000-0000-000000000000}"/>
          </ac:spMkLst>
        </pc:spChg>
      </pc:sldChg>
      <pc:sldChg chg="modSp mod">
        <pc:chgData name="Harshad Salunke" userId="9a30a149da14010b" providerId="LiveId" clId="{DD682CAA-75AB-451D-8442-6360CE77EB49}" dt="2025-10-08T09:24:49.146" v="98" actId="20577"/>
        <pc:sldMkLst>
          <pc:docMk/>
          <pc:sldMk cId="0" sldId="260"/>
        </pc:sldMkLst>
        <pc:spChg chg="mod">
          <ac:chgData name="Harshad Salunke" userId="9a30a149da14010b" providerId="LiveId" clId="{DD682CAA-75AB-451D-8442-6360CE77EB49}" dt="2025-10-08T09:24:19.601" v="77" actId="1076"/>
          <ac:spMkLst>
            <pc:docMk/>
            <pc:sldMk cId="0" sldId="260"/>
            <ac:spMk id="23" creationId="{20BA077A-44DB-B911-8CC9-4A45ADCA5D91}"/>
          </ac:spMkLst>
        </pc:spChg>
        <pc:spChg chg="mod">
          <ac:chgData name="Harshad Salunke" userId="9a30a149da14010b" providerId="LiveId" clId="{DD682CAA-75AB-451D-8442-6360CE77EB49}" dt="2025-10-08T09:24:49.146" v="98" actId="20577"/>
          <ac:spMkLst>
            <pc:docMk/>
            <pc:sldMk cId="0" sldId="260"/>
            <ac:spMk id="25" creationId="{753DFBEB-872F-72C0-9081-A2DC3D348A8C}"/>
          </ac:spMkLst>
        </pc:spChg>
      </pc:sldChg>
      <pc:sldChg chg="modSp mod">
        <pc:chgData name="Harshad Salunke" userId="9a30a149da14010b" providerId="LiveId" clId="{DD682CAA-75AB-451D-8442-6360CE77EB49}" dt="2025-10-08T09:37:44.329" v="127" actId="20577"/>
        <pc:sldMkLst>
          <pc:docMk/>
          <pc:sldMk cId="0" sldId="261"/>
        </pc:sldMkLst>
        <pc:spChg chg="mod">
          <ac:chgData name="Harshad Salunke" userId="9a30a149da14010b" providerId="LiveId" clId="{DD682CAA-75AB-451D-8442-6360CE77EB49}" dt="2025-10-08T09:37:44.329" v="127" actId="20577"/>
          <ac:spMkLst>
            <pc:docMk/>
            <pc:sldMk cId="0" sldId="261"/>
            <ac:spMk id="4" creationId="{D230C1F6-A8FB-EA11-B90D-B5322C72DA5C}"/>
          </ac:spMkLst>
        </pc:spChg>
      </pc:sldChg>
      <pc:sldChg chg="modSp mod">
        <pc:chgData name="Harshad Salunke" userId="9a30a149da14010b" providerId="LiveId" clId="{DD682CAA-75AB-451D-8442-6360CE77EB49}" dt="2025-10-08T09:31:11.163" v="121" actId="20577"/>
        <pc:sldMkLst>
          <pc:docMk/>
          <pc:sldMk cId="0" sldId="262"/>
        </pc:sldMkLst>
        <pc:spChg chg="mod">
          <ac:chgData name="Harshad Salunke" userId="9a30a149da14010b" providerId="LiveId" clId="{DD682CAA-75AB-451D-8442-6360CE77EB49}" dt="2025-10-08T09:31:11.163" v="121" actId="20577"/>
          <ac:spMkLst>
            <pc:docMk/>
            <pc:sldMk cId="0" sldId="262"/>
            <ac:spMk id="13" creationId="{BB30BAA4-9EB5-98F6-8CB5-E7BA7AC313FE}"/>
          </ac:spMkLst>
        </pc:spChg>
      </pc:sldChg>
      <pc:sldChg chg="addSp delSp modSp mod">
        <pc:chgData name="Harshad Salunke" userId="9a30a149da14010b" providerId="LiveId" clId="{DD682CAA-75AB-451D-8442-6360CE77EB49}" dt="2025-10-08T09:23:44.591" v="60" actId="1036"/>
        <pc:sldMkLst>
          <pc:docMk/>
          <pc:sldMk cId="1217654769" sldId="269"/>
        </pc:sldMkLst>
        <pc:spChg chg="mod">
          <ac:chgData name="Harshad Salunke" userId="9a30a149da14010b" providerId="LiveId" clId="{DD682CAA-75AB-451D-8442-6360CE77EB49}" dt="2025-10-08T09:22:56.786" v="38" actId="1076"/>
          <ac:spMkLst>
            <pc:docMk/>
            <pc:sldMk cId="1217654769" sldId="269"/>
            <ac:spMk id="16" creationId="{11BC3B03-E97B-156B-F0A3-4CB289170D67}"/>
          </ac:spMkLst>
        </pc:spChg>
        <pc:spChg chg="mod">
          <ac:chgData name="Harshad Salunke" userId="9a30a149da14010b" providerId="LiveId" clId="{DD682CAA-75AB-451D-8442-6360CE77EB49}" dt="2025-10-08T09:23:44.591" v="60" actId="1036"/>
          <ac:spMkLst>
            <pc:docMk/>
            <pc:sldMk cId="1217654769" sldId="269"/>
            <ac:spMk id="19" creationId="{8CE4A5BD-5A5D-25AB-D8F0-BF6F7A6A1A87}"/>
          </ac:spMkLst>
        </pc:spChg>
        <pc:picChg chg="add mod modCrop">
          <ac:chgData name="Harshad Salunke" userId="9a30a149da14010b" providerId="LiveId" clId="{DD682CAA-75AB-451D-8442-6360CE77EB49}" dt="2025-10-08T09:21:45.719" v="7" actId="1076"/>
          <ac:picMkLst>
            <pc:docMk/>
            <pc:sldMk cId="1217654769" sldId="269"/>
            <ac:picMk id="4" creationId="{6CCF1E6F-0B45-8794-029F-86F651155985}"/>
          </ac:picMkLst>
        </pc:picChg>
        <pc:picChg chg="add del">
          <ac:chgData name="Harshad Salunke" userId="9a30a149da14010b" providerId="LiveId" clId="{DD682CAA-75AB-451D-8442-6360CE77EB49}" dt="2025-10-08T09:21:24.779" v="2" actId="478"/>
          <ac:picMkLst>
            <pc:docMk/>
            <pc:sldMk cId="1217654769" sldId="269"/>
            <ac:picMk id="13" creationId="{DEAC2809-0942-FA1F-E309-97968BAA65EC}"/>
          </ac:picMkLst>
        </pc:picChg>
      </pc:sldChg>
      <pc:sldChg chg="modSp mod">
        <pc:chgData name="Harshad Salunke" userId="9a30a149da14010b" providerId="LiveId" clId="{DD682CAA-75AB-451D-8442-6360CE77EB49}" dt="2025-10-08T09:32:16.001" v="124" actId="1076"/>
        <pc:sldMkLst>
          <pc:docMk/>
          <pc:sldMk cId="900399065" sldId="275"/>
        </pc:sldMkLst>
        <pc:picChg chg="mod modCrop">
          <ac:chgData name="Harshad Salunke" userId="9a30a149da14010b" providerId="LiveId" clId="{DD682CAA-75AB-451D-8442-6360CE77EB49}" dt="2025-10-08T09:32:16.001" v="124" actId="1076"/>
          <ac:picMkLst>
            <pc:docMk/>
            <pc:sldMk cId="900399065" sldId="275"/>
            <ac:picMk id="7" creationId="{BB91EC03-F13E-89D8-90A2-A7F31EFC59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a9fa940987_3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a9fa940987_3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9469d1f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9469d1f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a9469d1f4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a9469d1f4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9469d1f4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9fa940987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a9fa940987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a9fa940987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a9fa940987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a9fa940987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9fa940987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9fa940987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1441925" y="25716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2658125" y="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2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Barlow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1156525" y="1340400"/>
            <a:ext cx="42321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1156525" y="2096100"/>
            <a:ext cx="4232100" cy="20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chemeClr val="accen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7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713225" y="1170000"/>
            <a:ext cx="5533200" cy="28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7951325" y="2571750"/>
            <a:ext cx="1216200" cy="134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12150"/>
            <a:ext cx="7717500" cy="16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713400" y="3069625"/>
            <a:ext cx="7717500" cy="6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/>
          <p:nvPr/>
        </p:nvSpPr>
        <p:spPr>
          <a:xfrm rot="10800000" flipH="1"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 idx="3" hasCustomPrompt="1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rgbClr val="4A8C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 idx="4"/>
          </p:nvPr>
        </p:nvSpPr>
        <p:spPr>
          <a:xfrm>
            <a:off x="62330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 idx="5" hasCustomPrompt="1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rgbClr val="4A8C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 idx="8" hasCustomPrompt="1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rgbClr val="4A8C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 idx="14" hasCustomPrompt="1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rgbClr val="4A8C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7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3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1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2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3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4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5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6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7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ubTitle" idx="8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9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3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6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 rot="10800000" flipH="1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 rot="10800000" flipH="1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0" name="Google Shape;140;p23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3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subTitle" idx="1"/>
          </p:nvPr>
        </p:nvSpPr>
        <p:spPr>
          <a:xfrm>
            <a:off x="7119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2"/>
          </p:nvPr>
        </p:nvSpPr>
        <p:spPr>
          <a:xfrm>
            <a:off x="7119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subTitle" idx="3"/>
          </p:nvPr>
        </p:nvSpPr>
        <p:spPr>
          <a:xfrm>
            <a:off x="298395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4"/>
          </p:nvPr>
        </p:nvSpPr>
        <p:spPr>
          <a:xfrm>
            <a:off x="298395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ubTitle" idx="5"/>
          </p:nvPr>
        </p:nvSpPr>
        <p:spPr>
          <a:xfrm>
            <a:off x="52560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6"/>
          </p:nvPr>
        </p:nvSpPr>
        <p:spPr>
          <a:xfrm>
            <a:off x="52560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ubTitle" idx="7"/>
          </p:nvPr>
        </p:nvSpPr>
        <p:spPr>
          <a:xfrm>
            <a:off x="7119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ubTitle" idx="8"/>
          </p:nvPr>
        </p:nvSpPr>
        <p:spPr>
          <a:xfrm>
            <a:off x="7119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ubTitle" idx="9"/>
          </p:nvPr>
        </p:nvSpPr>
        <p:spPr>
          <a:xfrm>
            <a:off x="298395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13"/>
          </p:nvPr>
        </p:nvSpPr>
        <p:spPr>
          <a:xfrm>
            <a:off x="298395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ubTitle" idx="14"/>
          </p:nvPr>
        </p:nvSpPr>
        <p:spPr>
          <a:xfrm>
            <a:off x="52560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ubTitle" idx="15"/>
          </p:nvPr>
        </p:nvSpPr>
        <p:spPr>
          <a:xfrm>
            <a:off x="52560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7" r:id="rId6"/>
    <p:sldLayoutId id="2147483660" r:id="rId7"/>
    <p:sldLayoutId id="2147483663" r:id="rId8"/>
    <p:sldLayoutId id="2147483664" r:id="rId9"/>
    <p:sldLayoutId id="2147483666" r:id="rId10"/>
    <p:sldLayoutId id="2147483669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1386197" y="211507"/>
            <a:ext cx="7074856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A8CFF"/>
                </a:solidFill>
              </a:rPr>
              <a:t>I.T.</a:t>
            </a:r>
            <a:br>
              <a:rPr lang="en" dirty="0">
                <a:solidFill>
                  <a:srgbClr val="4A8CFF"/>
                </a:solidFill>
              </a:rPr>
            </a:br>
            <a:r>
              <a:rPr lang="en" dirty="0">
                <a:solidFill>
                  <a:srgbClr val="4A8CFF"/>
                </a:solidFill>
              </a:rPr>
              <a:t>Department Portal</a:t>
            </a:r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1"/>
          </p:nvPr>
        </p:nvSpPr>
        <p:spPr>
          <a:xfrm>
            <a:off x="614285" y="2264107"/>
            <a:ext cx="8328237" cy="2137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b="1" dirty="0" err="1"/>
              <a:t>Shivajirao</a:t>
            </a:r>
            <a:r>
              <a:rPr lang="en-US" b="1" dirty="0"/>
              <a:t> S. </a:t>
            </a:r>
            <a:r>
              <a:rPr lang="en-US" b="1" dirty="0" err="1"/>
              <a:t>Jondhale</a:t>
            </a:r>
            <a:r>
              <a:rPr lang="en-US" b="1" dirty="0"/>
              <a:t> College of Engineering, Dombivli(E)</a:t>
            </a:r>
          </a:p>
          <a:p>
            <a:pPr marL="0" lvl="0" indent="0" algn="ctr"/>
            <a:endParaRPr lang="en-US" dirty="0"/>
          </a:p>
          <a:p>
            <a:pPr marL="0" lvl="0" indent="0" algn="ctr"/>
            <a:endParaRPr lang="en-US" dirty="0"/>
          </a:p>
          <a:p>
            <a:pPr marL="0" lvl="0" indent="0" algn="l"/>
            <a:r>
              <a:rPr lang="en-US" dirty="0"/>
              <a:t>Presented by:-</a:t>
            </a:r>
          </a:p>
          <a:p>
            <a:pPr marL="0" lvl="0" indent="0" algn="l"/>
            <a:r>
              <a:rPr lang="en-US" dirty="0"/>
              <a:t>1)Girish Mahajan</a:t>
            </a:r>
          </a:p>
          <a:p>
            <a:pPr marL="0" lvl="0" indent="0" algn="l"/>
            <a:r>
              <a:rPr lang="en-US" dirty="0"/>
              <a:t>2)Harshad  Salunke</a:t>
            </a:r>
          </a:p>
          <a:p>
            <a:pPr marL="0" lvl="0" indent="0" algn="l"/>
            <a:r>
              <a:rPr lang="en-US" dirty="0"/>
              <a:t>3)Hemangi Thoke</a:t>
            </a:r>
            <a:endParaRPr dirty="0"/>
          </a:p>
        </p:txBody>
      </p:sp>
      <p:sp>
        <p:nvSpPr>
          <p:cNvPr id="9" name="Google Shape;297;p39">
            <a:extLst>
              <a:ext uri="{FF2B5EF4-FFF2-40B4-BE49-F238E27FC236}">
                <a16:creationId xmlns:a16="http://schemas.microsoft.com/office/drawing/2014/main" id="{C46DD486-9B89-9367-8988-194F2B3C10E1}"/>
              </a:ext>
            </a:extLst>
          </p:cNvPr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98;p39">
            <a:extLst>
              <a:ext uri="{FF2B5EF4-FFF2-40B4-BE49-F238E27FC236}">
                <a16:creationId xmlns:a16="http://schemas.microsoft.com/office/drawing/2014/main" id="{2E5F920A-14A5-F336-8108-4F63F4E11C57}"/>
              </a:ext>
            </a:extLst>
          </p:cNvPr>
          <p:cNvSpPr/>
          <p:nvPr/>
        </p:nvSpPr>
        <p:spPr>
          <a:xfrm flipH="1">
            <a:off x="4572000" y="4834200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                          </a:t>
            </a:r>
            <a:r>
              <a:rPr lang="en" dirty="0"/>
              <a:t>Introduction</a:t>
            </a:r>
            <a:endParaRPr dirty="0"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713225" y="1268819"/>
            <a:ext cx="7717500" cy="31968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  <a:latin typeface="+mn-lt"/>
              </a:rPr>
              <a:t>A centralized web application to manage the academic and administrative activities of the IT Department.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  <a:latin typeface="+mn-lt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  <a:latin typeface="+mn-lt"/>
              </a:rPr>
              <a:t>The system is built around three distinct user roles to ensure security and efficiency: HOD (Admin), Faculty, and Student.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  <a:latin typeface="+mn-lt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  <a:latin typeface="+mn-lt"/>
              </a:rPr>
              <a:t>To provide each user type with a tailored experience, giving them access only to the tools and information they need.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  <a:latin typeface="+mn-lt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  <a:latin typeface="+mn-lt"/>
              </a:rPr>
              <a:t>The Core Concept of the overall project is providing easy access and functionality to users of IT department.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Google Shape;297;p39">
            <a:extLst>
              <a:ext uri="{FF2B5EF4-FFF2-40B4-BE49-F238E27FC236}">
                <a16:creationId xmlns:a16="http://schemas.microsoft.com/office/drawing/2014/main" id="{BEB642B2-6D54-BC18-2BF8-B8EE1CA22157}"/>
              </a:ext>
            </a:extLst>
          </p:cNvPr>
          <p:cNvSpPr/>
          <p:nvPr/>
        </p:nvSpPr>
        <p:spPr>
          <a:xfrm flipH="1">
            <a:off x="4579138" y="4834200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298;p39">
            <a:extLst>
              <a:ext uri="{FF2B5EF4-FFF2-40B4-BE49-F238E27FC236}">
                <a16:creationId xmlns:a16="http://schemas.microsoft.com/office/drawing/2014/main" id="{D5885B26-63FD-646C-CD00-2133859A8250}"/>
              </a:ext>
            </a:extLst>
          </p:cNvPr>
          <p:cNvSpPr/>
          <p:nvPr/>
        </p:nvSpPr>
        <p:spPr>
          <a:xfrm flipH="1">
            <a:off x="7138" y="4834200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Survey </a:t>
            </a:r>
            <a:endParaRPr dirty="0"/>
          </a:p>
        </p:txBody>
      </p:sp>
      <p:sp>
        <p:nvSpPr>
          <p:cNvPr id="17" name="Google Shape;192;p31">
            <a:extLst>
              <a:ext uri="{FF2B5EF4-FFF2-40B4-BE49-F238E27FC236}">
                <a16:creationId xmlns:a16="http://schemas.microsoft.com/office/drawing/2014/main" id="{B47CA569-A395-7DE2-E8CF-F7DC4AB378B2}"/>
              </a:ext>
            </a:extLst>
          </p:cNvPr>
          <p:cNvSpPr txBox="1">
            <a:spLocks/>
          </p:cNvSpPr>
          <p:nvPr/>
        </p:nvSpPr>
        <p:spPr>
          <a:xfrm>
            <a:off x="717801" y="1219200"/>
            <a:ext cx="7708200" cy="320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4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</a:rPr>
              <a:t>Studied current College ERP &amp; manual systems and worked accordingly for IT department portal. </a:t>
            </a: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</a:rPr>
              <a:t>Most systems are either too complex and expensive, or too simple and lack specific role-based features.</a:t>
            </a: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</a:rPr>
              <a:t>A need for a web-based system specifically designed for departmental management with clear separation of duties for HOD, faculty, and students.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dirty="0"/>
              <a:t>Hence, we found that heavy licensing fees, subscription models, and additional hardware requirements, which are not financially feasible for individual departments.</a:t>
            </a:r>
            <a:endParaRPr lang="en-US" sz="1500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>
            <a:spLocks noGrp="1"/>
          </p:cNvSpPr>
          <p:nvPr>
            <p:ph type="title"/>
          </p:nvPr>
        </p:nvSpPr>
        <p:spPr>
          <a:xfrm>
            <a:off x="2119423" y="457200"/>
            <a:ext cx="4217581" cy="5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215" name="Google Shape;215;p33"/>
          <p:cNvSpPr txBox="1">
            <a:spLocks noGrp="1"/>
          </p:cNvSpPr>
          <p:nvPr>
            <p:ph type="body" idx="1"/>
          </p:nvPr>
        </p:nvSpPr>
        <p:spPr>
          <a:xfrm>
            <a:off x="779721" y="1402080"/>
            <a:ext cx="5643939" cy="27584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The Core Problem : IT departments lack a single, integrated platform to manage their complex operations. 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This leads to scattered data, communication gaps, and administrative inefficiencies.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HODs struggle to get a complete overview and generate consolidated reports.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Faculty time is utilized on manual data entry for marks and attendance.</a:t>
            </a:r>
          </a:p>
        </p:txBody>
      </p:sp>
      <p:sp>
        <p:nvSpPr>
          <p:cNvPr id="216" name="Google Shape;216;p33"/>
          <p:cNvSpPr/>
          <p:nvPr/>
        </p:nvSpPr>
        <p:spPr>
          <a:xfrm>
            <a:off x="6732125" y="7088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3"/>
          <p:cNvSpPr/>
          <p:nvPr/>
        </p:nvSpPr>
        <p:spPr>
          <a:xfrm>
            <a:off x="7951325" y="2578838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626494-A542-408C-56CA-16FF2ACF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063" y="340241"/>
            <a:ext cx="2823873" cy="595241"/>
          </a:xfrm>
        </p:spPr>
        <p:txBody>
          <a:bodyPr/>
          <a:lstStyle/>
          <a:p>
            <a:r>
              <a:rPr lang="en-US" dirty="0"/>
              <a:t>  Objectives</a:t>
            </a:r>
            <a:endParaRPr lang="en-IN" dirty="0"/>
          </a:p>
        </p:txBody>
      </p:sp>
      <p:sp>
        <p:nvSpPr>
          <p:cNvPr id="2" name="Google Shape;216;p33">
            <a:extLst>
              <a:ext uri="{FF2B5EF4-FFF2-40B4-BE49-F238E27FC236}">
                <a16:creationId xmlns:a16="http://schemas.microsoft.com/office/drawing/2014/main" id="{C01FF833-96A8-6870-50C4-1982A718DC89}"/>
              </a:ext>
            </a:extLst>
          </p:cNvPr>
          <p:cNvSpPr/>
          <p:nvPr/>
        </p:nvSpPr>
        <p:spPr>
          <a:xfrm>
            <a:off x="8024035" y="0"/>
            <a:ext cx="1119963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17;p33">
            <a:extLst>
              <a:ext uri="{FF2B5EF4-FFF2-40B4-BE49-F238E27FC236}">
                <a16:creationId xmlns:a16="http://schemas.microsoft.com/office/drawing/2014/main" id="{0AD8F22A-748D-B10D-BA68-D1E685E084E9}"/>
              </a:ext>
            </a:extLst>
          </p:cNvPr>
          <p:cNvSpPr/>
          <p:nvPr/>
        </p:nvSpPr>
        <p:spPr>
          <a:xfrm>
            <a:off x="0" y="2571750"/>
            <a:ext cx="1119963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97CD3-3DF6-2151-CD28-68E4EDB0AEA7}"/>
              </a:ext>
            </a:extLst>
          </p:cNvPr>
          <p:cNvSpPr txBox="1"/>
          <p:nvPr/>
        </p:nvSpPr>
        <p:spPr>
          <a:xfrm>
            <a:off x="1396409" y="1018808"/>
            <a:ext cx="63299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Times New Roman" panose="02020603050405020304" pitchFamily="18" charset="0"/>
              </a:rPr>
              <a:t>To allow faculty to enter, update, and manage internal assessment while enabling HODs to monitor student performance at a glance.</a:t>
            </a:r>
            <a:endParaRPr lang="en-US" dirty="0">
              <a:solidFill>
                <a:schemeClr val="dk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dk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Times New Roman" panose="02020603050405020304" pitchFamily="18" charset="0"/>
              </a:rPr>
              <a:t>To simplify the creation, updating, and sharing of departmental timetables for faculty and students.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dk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Times New Roman" panose="02020603050405020304" pitchFamily="18" charset="0"/>
              </a:rPr>
              <a:t>To minimize manual tasks like maintaining paper records and Excel sheets, thereby saving faculty time and reducing errors.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dk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Times New Roman" panose="02020603050405020304" pitchFamily="18" charset="0"/>
              </a:rPr>
              <a:t>To maintain all departmental information (attendance, marks, timetables, notices, student records) in a single, unified platform.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dk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Times New Roman" panose="02020603050405020304" pitchFamily="18" charset="0"/>
              </a:rPr>
              <a:t>To provide an intuitive, simple, and easy-to-use interface that requires minimal technical expertise.</a:t>
            </a:r>
            <a:endParaRPr lang="en-US" sz="1400" dirty="0">
              <a:solidFill>
                <a:schemeClr val="dk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2;p31">
            <a:extLst>
              <a:ext uri="{FF2B5EF4-FFF2-40B4-BE49-F238E27FC236}">
                <a16:creationId xmlns:a16="http://schemas.microsoft.com/office/drawing/2014/main" id="{543CE42C-19FC-0285-5D90-3BE689210FBE}"/>
              </a:ext>
            </a:extLst>
          </p:cNvPr>
          <p:cNvSpPr txBox="1">
            <a:spLocks/>
          </p:cNvSpPr>
          <p:nvPr/>
        </p:nvSpPr>
        <p:spPr>
          <a:xfrm>
            <a:off x="717801" y="1326057"/>
            <a:ext cx="7708200" cy="2948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4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</a:rPr>
              <a:t>Existing Systems Analysis : Studied current College ERP &amp; manual systems.</a:t>
            </a: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</a:rPr>
              <a:t>Most systems are either too complex and expensive, or too simple and lack specific role-based features.</a:t>
            </a: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dk1"/>
                </a:solidFill>
              </a:rPr>
              <a:t>A need for a web-based system specifically designed for departmental management with clear separation of duties for HOD, faculty, and students.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dirty="0"/>
              <a:t>High costing, subscription models, &amp; additional hardware requirements, which are not financially feasible for individual departments.</a:t>
            </a:r>
            <a:endParaRPr lang="en-US" sz="1500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40241-7976-9790-F376-6E365B53DA0D}"/>
              </a:ext>
            </a:extLst>
          </p:cNvPr>
          <p:cNvSpPr txBox="1"/>
          <p:nvPr/>
        </p:nvSpPr>
        <p:spPr>
          <a:xfrm>
            <a:off x="2821171" y="274360"/>
            <a:ext cx="3437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1" dirty="0">
                <a:solidFill>
                  <a:srgbClr val="003BA3"/>
                </a:solidFill>
                <a:latin typeface="Montserrat"/>
                <a:sym typeface="Montserrat"/>
              </a:rPr>
              <a:t> Existing System </a:t>
            </a:r>
            <a:endParaRPr lang="en-IN" dirty="0"/>
          </a:p>
        </p:txBody>
      </p:sp>
      <p:sp>
        <p:nvSpPr>
          <p:cNvPr id="12" name="Google Shape;297;p39">
            <a:extLst>
              <a:ext uri="{FF2B5EF4-FFF2-40B4-BE49-F238E27FC236}">
                <a16:creationId xmlns:a16="http://schemas.microsoft.com/office/drawing/2014/main" id="{D4D05C70-2215-8078-C1D4-9519899AF645}"/>
              </a:ext>
            </a:extLst>
          </p:cNvPr>
          <p:cNvSpPr/>
          <p:nvPr/>
        </p:nvSpPr>
        <p:spPr>
          <a:xfrm flipH="1">
            <a:off x="50" y="4820099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98;p39">
            <a:extLst>
              <a:ext uri="{FF2B5EF4-FFF2-40B4-BE49-F238E27FC236}">
                <a16:creationId xmlns:a16="http://schemas.microsoft.com/office/drawing/2014/main" id="{422F6082-E488-CAA6-8948-5F5FF81E3F9B}"/>
              </a:ext>
            </a:extLst>
          </p:cNvPr>
          <p:cNvSpPr/>
          <p:nvPr/>
        </p:nvSpPr>
        <p:spPr>
          <a:xfrm flipH="1">
            <a:off x="4572000" y="4820099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881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9E3AD09-D995-A283-DC97-0374C73F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4" y="383175"/>
            <a:ext cx="7702986" cy="936300"/>
          </a:xfrm>
        </p:spPr>
        <p:txBody>
          <a:bodyPr/>
          <a:lstStyle/>
          <a:p>
            <a:r>
              <a:rPr lang="en-US" sz="2800" dirty="0"/>
              <a:t>Proposed System</a:t>
            </a:r>
            <a:endParaRPr lang="en-IN" sz="2800" dirty="0"/>
          </a:p>
        </p:txBody>
      </p:sp>
      <p:sp>
        <p:nvSpPr>
          <p:cNvPr id="16" name="Google Shape;215;p33">
            <a:extLst>
              <a:ext uri="{FF2B5EF4-FFF2-40B4-BE49-F238E27FC236}">
                <a16:creationId xmlns:a16="http://schemas.microsoft.com/office/drawing/2014/main" id="{11BC3B03-E97B-156B-F0A3-4CB289170D67}"/>
              </a:ext>
            </a:extLst>
          </p:cNvPr>
          <p:cNvSpPr txBox="1">
            <a:spLocks/>
          </p:cNvSpPr>
          <p:nvPr/>
        </p:nvSpPr>
        <p:spPr>
          <a:xfrm>
            <a:off x="1084101" y="4372805"/>
            <a:ext cx="2743980" cy="344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Fig No.1 : Main Page 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E4A5BD-5A5D-25AB-D8F0-BF6F7A6A1A87}"/>
              </a:ext>
            </a:extLst>
          </p:cNvPr>
          <p:cNvSpPr txBox="1"/>
          <p:nvPr/>
        </p:nvSpPr>
        <p:spPr>
          <a:xfrm>
            <a:off x="5682020" y="4460297"/>
            <a:ext cx="2743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Fig No.2 : HOD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389A9A-6E57-5E4B-2537-8DB6BF6BD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010" y="1127049"/>
            <a:ext cx="4445004" cy="31969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CF1E6F-0B45-8794-029F-86F651155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08" b="7720"/>
          <a:stretch>
            <a:fillRect/>
          </a:stretch>
        </p:blipFill>
        <p:spPr>
          <a:xfrm>
            <a:off x="0" y="1127049"/>
            <a:ext cx="4445004" cy="319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5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01CB855-D0EB-8C60-CFA7-99BA1611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 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BA077A-44DB-B911-8CC9-4A45ADCA5D91}"/>
              </a:ext>
            </a:extLst>
          </p:cNvPr>
          <p:cNvSpPr txBox="1"/>
          <p:nvPr/>
        </p:nvSpPr>
        <p:spPr>
          <a:xfrm>
            <a:off x="854148" y="4452548"/>
            <a:ext cx="2745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Fig No.3 : Faculty Page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3DFBEB-872F-72C0-9081-A2DC3D348A8C}"/>
              </a:ext>
            </a:extLst>
          </p:cNvPr>
          <p:cNvSpPr txBox="1"/>
          <p:nvPr/>
        </p:nvSpPr>
        <p:spPr>
          <a:xfrm>
            <a:off x="6352502" y="4452549"/>
            <a:ext cx="2745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Fig No.4 : Student Page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B91125-E8D1-7A74-18EC-72F1EE17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1329"/>
            <a:ext cx="4453399" cy="3331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32CCD5-E7FC-7DA6-DC36-35E9BBD9C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245" y="1049078"/>
            <a:ext cx="4517756" cy="3331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999460" y="388619"/>
            <a:ext cx="5805377" cy="6069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Requirements</a:t>
            </a:r>
            <a:endParaRPr dirty="0"/>
          </a:p>
        </p:txBody>
      </p:sp>
      <p:sp>
        <p:nvSpPr>
          <p:cNvPr id="4" name="Google Shape;192;p31">
            <a:extLst>
              <a:ext uri="{FF2B5EF4-FFF2-40B4-BE49-F238E27FC236}">
                <a16:creationId xmlns:a16="http://schemas.microsoft.com/office/drawing/2014/main" id="{D230C1F6-A8FB-EA11-B90D-B5322C72DA5C}"/>
              </a:ext>
            </a:extLst>
          </p:cNvPr>
          <p:cNvSpPr txBox="1">
            <a:spLocks/>
          </p:cNvSpPr>
          <p:nvPr/>
        </p:nvSpPr>
        <p:spPr>
          <a:xfrm>
            <a:off x="2991291" y="1173740"/>
            <a:ext cx="489097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r>
              <a:rPr lang="en-US" sz="1500" u="sng" dirty="0"/>
              <a:t>Software Requirements :</a:t>
            </a:r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r>
              <a:rPr lang="en-US" sz="1500" dirty="0"/>
              <a:t>Front - End : HTML, CSS &amp; JavaScript.</a:t>
            </a:r>
          </a:p>
          <a:p>
            <a:pPr marL="0" indent="0" algn="l">
              <a:buSzPts val="1100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r>
              <a:rPr lang="en-US" sz="1500" dirty="0"/>
              <a:t>Database : MYSQL</a:t>
            </a:r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r>
              <a:rPr lang="en-US" sz="1500" u="sng" dirty="0"/>
              <a:t>Hardware Requirements :</a:t>
            </a:r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r>
              <a:rPr lang="en-US" sz="1500" dirty="0"/>
              <a:t>Standard Specification PC or Laptop.</a:t>
            </a:r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r>
              <a:rPr lang="en-US" sz="1500" dirty="0"/>
              <a:t>Web browser.</a:t>
            </a:r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285750" indent="-285750" algn="l">
              <a:buSzPts val="1100"/>
              <a:buFont typeface="Wingdings" panose="05000000000000000000" pitchFamily="2" charset="2"/>
              <a:buChar char="Ø"/>
            </a:pPr>
            <a:endParaRPr lang="en-US" sz="1500" dirty="0"/>
          </a:p>
          <a:p>
            <a:pPr marL="0" indent="0" algn="l">
              <a:buSzPts val="1100"/>
            </a:pPr>
            <a:endParaRPr lang="en-US" sz="15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B39545D0-9EEC-DC63-E032-C9DB55A34A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2554260" cy="196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36152D-CC60-20BD-AB5D-DBF1FACA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957" y="384048"/>
            <a:ext cx="6027767" cy="572700"/>
          </a:xfrm>
        </p:spPr>
        <p:txBody>
          <a:bodyPr/>
          <a:lstStyle/>
          <a:p>
            <a:r>
              <a:rPr lang="en-US" sz="2800" dirty="0"/>
              <a:t>  System Architecture</a:t>
            </a:r>
            <a:endParaRPr lang="en-IN" sz="2800" dirty="0"/>
          </a:p>
        </p:txBody>
      </p:sp>
      <p:sp>
        <p:nvSpPr>
          <p:cNvPr id="3" name="Google Shape;215;p33">
            <a:extLst>
              <a:ext uri="{FF2B5EF4-FFF2-40B4-BE49-F238E27FC236}">
                <a16:creationId xmlns:a16="http://schemas.microsoft.com/office/drawing/2014/main" id="{47182DA0-E21E-37E3-6BF2-F3808FCB4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788" y="1152525"/>
            <a:ext cx="7718425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4" name="Google Shape;215;p33">
            <a:extLst>
              <a:ext uri="{FF2B5EF4-FFF2-40B4-BE49-F238E27FC236}">
                <a16:creationId xmlns:a16="http://schemas.microsoft.com/office/drawing/2014/main" id="{28F14C04-98F3-F42D-E871-6D7C6DBAF068}"/>
              </a:ext>
            </a:extLst>
          </p:cNvPr>
          <p:cNvSpPr txBox="1">
            <a:spLocks/>
          </p:cNvSpPr>
          <p:nvPr/>
        </p:nvSpPr>
        <p:spPr>
          <a:xfrm>
            <a:off x="2156460" y="1341120"/>
            <a:ext cx="4267200" cy="28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C20E15-73DB-2063-B723-8B8D81D59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52524"/>
            <a:ext cx="7653484" cy="31984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30BAA4-9EB5-98F6-8CB5-E7BA7AC313FE}"/>
              </a:ext>
            </a:extLst>
          </p:cNvPr>
          <p:cNvSpPr txBox="1"/>
          <p:nvPr/>
        </p:nvSpPr>
        <p:spPr>
          <a:xfrm>
            <a:off x="3421380" y="4220705"/>
            <a:ext cx="3002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Fig No.5 : System Architecture 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678A537B-5776-E0AE-699B-8D7D52BCE5D8}"/>
              </a:ext>
            </a:extLst>
          </p:cNvPr>
          <p:cNvSpPr/>
          <p:nvPr/>
        </p:nvSpPr>
        <p:spPr>
          <a:xfrm>
            <a:off x="3985260" y="2270760"/>
            <a:ext cx="1402080" cy="102108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IT department Portal system </a:t>
            </a:r>
          </a:p>
          <a:p>
            <a:pPr algn="ctr"/>
            <a:endParaRPr lang="en-IN" sz="1000" dirty="0"/>
          </a:p>
        </p:txBody>
      </p:sp>
      <p:sp>
        <p:nvSpPr>
          <p:cNvPr id="15" name="Google Shape;298;p39">
            <a:extLst>
              <a:ext uri="{FF2B5EF4-FFF2-40B4-BE49-F238E27FC236}">
                <a16:creationId xmlns:a16="http://schemas.microsoft.com/office/drawing/2014/main" id="{54FC6866-01D3-0F17-389B-B8D7883EFA44}"/>
              </a:ext>
            </a:extLst>
          </p:cNvPr>
          <p:cNvSpPr/>
          <p:nvPr/>
        </p:nvSpPr>
        <p:spPr>
          <a:xfrm flipH="1">
            <a:off x="4572000" y="4820099"/>
            <a:ext cx="4572000" cy="3234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98;p39">
            <a:extLst>
              <a:ext uri="{FF2B5EF4-FFF2-40B4-BE49-F238E27FC236}">
                <a16:creationId xmlns:a16="http://schemas.microsoft.com/office/drawing/2014/main" id="{6163A1B6-0EC6-6829-7E04-02DD050C161B}"/>
              </a:ext>
            </a:extLst>
          </p:cNvPr>
          <p:cNvSpPr/>
          <p:nvPr/>
        </p:nvSpPr>
        <p:spPr>
          <a:xfrm flipH="1">
            <a:off x="144780" y="4820099"/>
            <a:ext cx="4427220" cy="3234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16128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 Details</a:t>
            </a:r>
            <a:endParaRPr dirty="0"/>
          </a:p>
        </p:txBody>
      </p:sp>
      <p:sp>
        <p:nvSpPr>
          <p:cNvPr id="20" name="Google Shape;215;p33">
            <a:extLst>
              <a:ext uri="{FF2B5EF4-FFF2-40B4-BE49-F238E27FC236}">
                <a16:creationId xmlns:a16="http://schemas.microsoft.com/office/drawing/2014/main" id="{616CF720-6F32-C964-6C64-3D3671636C10}"/>
              </a:ext>
            </a:extLst>
          </p:cNvPr>
          <p:cNvSpPr txBox="1">
            <a:spLocks/>
          </p:cNvSpPr>
          <p:nvPr/>
        </p:nvSpPr>
        <p:spPr>
          <a:xfrm>
            <a:off x="449580" y="937259"/>
            <a:ext cx="7002780" cy="4114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u="sng" dirty="0">
                <a:latin typeface="Montserrat" panose="00000500000000000000" pitchFamily="2" charset="0"/>
                <a:cs typeface="Mongolian Baiti" panose="03000500000000000000" pitchFamily="66" charset="0"/>
              </a:rPr>
              <a:t>HOD Module</a:t>
            </a: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: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User Management: Can add, edit, or remove Students and Faculty.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Academic Management: Defines courses, subjects, and academic years.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Results &amp; Documents: Uploads and finalizes results and documents. </a:t>
            </a:r>
          </a:p>
          <a:p>
            <a:pPr>
              <a:buClr>
                <a:schemeClr val="dk1"/>
              </a:buClr>
              <a:buSzPts val="1100"/>
            </a:pPr>
            <a:endParaRPr lang="en-US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u="sng" dirty="0">
                <a:latin typeface="Montserrat" panose="00000500000000000000" pitchFamily="2" charset="0"/>
                <a:cs typeface="Mongolian Baiti" panose="03000500000000000000" pitchFamily="66" charset="0"/>
              </a:rPr>
              <a:t>Faculty Module</a:t>
            </a: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: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Dashboard: Shows personal timetable and important notices.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Student Management: View details of students in their assigned classes.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Marks &amp; Results Entry: Can enter, upload, and manage marks &amp; subjects.</a:t>
            </a:r>
          </a:p>
          <a:p>
            <a:pPr>
              <a:buClr>
                <a:schemeClr val="dk1"/>
              </a:buClr>
              <a:buSzPts val="1100"/>
            </a:pPr>
            <a:endParaRPr lang="en-US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u="sng" dirty="0">
                <a:latin typeface="Montserrat" panose="00000500000000000000" pitchFamily="2" charset="0"/>
                <a:cs typeface="Mongolian Baiti" panose="03000500000000000000" pitchFamily="66" charset="0"/>
              </a:rPr>
              <a:t>Student Module</a:t>
            </a: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: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Personalized Dashboard: Displays key info like attendance percentage and recent results.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Academic Records: Access to "Attendance" and "Results".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Resources: View Timetable, Assignments, and Library Resources.</a:t>
            </a: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>
              <a:buClr>
                <a:schemeClr val="dk1"/>
              </a:buClr>
              <a:buSzPts val="1100"/>
            </a:pPr>
            <a:endParaRPr lang="en-US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>
              <a:buClr>
                <a:schemeClr val="dk1"/>
              </a:buClr>
              <a:buSzPts val="1100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>
              <a:buClr>
                <a:schemeClr val="dk1"/>
              </a:buClr>
              <a:buSzPts val="1100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AC09-FF91-A4A4-6C54-FCC2D358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7F2DB9-E4C6-91AC-A973-F13B94898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CDD26A-3082-F686-1DA8-49DEA1AE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232506"/>
            <a:ext cx="7717500" cy="572700"/>
          </a:xfrm>
        </p:spPr>
        <p:txBody>
          <a:bodyPr/>
          <a:lstStyle/>
          <a:p>
            <a:r>
              <a:rPr lang="en-US" dirty="0"/>
              <a:t>                     Result and Output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F9D42-4D08-670D-797E-7FDAD0EA8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55" y="875654"/>
            <a:ext cx="7788089" cy="426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27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AB1905-0549-15D3-54D0-3C0290226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B07E5F-6594-368D-20D7-3270BE8C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232506"/>
            <a:ext cx="7717500" cy="572700"/>
          </a:xfrm>
        </p:spPr>
        <p:txBody>
          <a:bodyPr/>
          <a:lstStyle/>
          <a:p>
            <a:r>
              <a:rPr lang="en-US" dirty="0"/>
              <a:t>                     Result and Output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F8916A-A163-31DF-FFF4-D3993148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25" y="1030637"/>
            <a:ext cx="7849589" cy="39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16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D4EAA5-DF2A-A69A-8F52-E6982E0C4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D9B13A-E90D-1CF5-AFA8-3BA390F4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Result and Output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AEB84-5DD0-86DF-3324-4ADB1682E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25" y="956748"/>
            <a:ext cx="7864290" cy="412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0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00CA4E-FD61-39F9-433E-08DE9FB91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17350F-30E1-D99C-4714-005EA99F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Result and Output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0CC10-2B47-43D5-54A5-F1CEEE9CA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4" y="1152474"/>
            <a:ext cx="7880251" cy="39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92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B9821B-D785-41AC-CFD3-810922D08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A0B8E-8EF2-CF7E-96C8-6C84C0CA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Result and Output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91EC03-F13E-89D8-90A2-A7F31EFC59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70"/>
          <a:stretch>
            <a:fillRect/>
          </a:stretch>
        </p:blipFill>
        <p:spPr>
          <a:xfrm>
            <a:off x="713226" y="813660"/>
            <a:ext cx="7717499" cy="426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99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                     Conclusion</a:t>
            </a:r>
            <a:endParaRPr dirty="0"/>
          </a:p>
        </p:txBody>
      </p:sp>
      <p:sp>
        <p:nvSpPr>
          <p:cNvPr id="297" name="Google Shape;297;p39"/>
          <p:cNvSpPr/>
          <p:nvPr/>
        </p:nvSpPr>
        <p:spPr>
          <a:xfrm flipH="1">
            <a:off x="50" y="4820099"/>
            <a:ext cx="4572000" cy="2940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9"/>
          <p:cNvSpPr/>
          <p:nvPr/>
        </p:nvSpPr>
        <p:spPr>
          <a:xfrm flipH="1">
            <a:off x="4572000" y="4820099"/>
            <a:ext cx="4572000" cy="25967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15;p33">
            <a:extLst>
              <a:ext uri="{FF2B5EF4-FFF2-40B4-BE49-F238E27FC236}">
                <a16:creationId xmlns:a16="http://schemas.microsoft.com/office/drawing/2014/main" id="{4854AF36-7536-357D-CFCB-B72CD3A4E724}"/>
              </a:ext>
            </a:extLst>
          </p:cNvPr>
          <p:cNvSpPr txBox="1">
            <a:spLocks/>
          </p:cNvSpPr>
          <p:nvPr/>
        </p:nvSpPr>
        <p:spPr>
          <a:xfrm>
            <a:off x="1158240" y="1219200"/>
            <a:ext cx="6294120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>
              <a:buClr>
                <a:schemeClr val="dk1"/>
              </a:buClr>
              <a:buSzPts val="1100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3" name="Google Shape;215;p33">
            <a:extLst>
              <a:ext uri="{FF2B5EF4-FFF2-40B4-BE49-F238E27FC236}">
                <a16:creationId xmlns:a16="http://schemas.microsoft.com/office/drawing/2014/main" id="{3AC3DF57-207A-2F5E-F841-EDF3343BBE46}"/>
              </a:ext>
            </a:extLst>
          </p:cNvPr>
          <p:cNvSpPr txBox="1">
            <a:spLocks/>
          </p:cNvSpPr>
          <p:nvPr/>
        </p:nvSpPr>
        <p:spPr>
          <a:xfrm>
            <a:off x="1310640" y="1371600"/>
            <a:ext cx="6675120" cy="1691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>
                <a:latin typeface="Montserrat" panose="00000500000000000000" pitchFamily="2" charset="0"/>
              </a:rPr>
              <a:t>The IT Department Portal is a challenge of manual and scattered departmental processes by providing a centralized, web-based solution. With role-based access for HOD, faculty, and students, the system ensures efficient management of attendance, marks, timetables, notices, and project submissions. It reduces paperwork, minimizes errors, enhances communication.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>
              <a:buClr>
                <a:schemeClr val="dk1"/>
              </a:buClr>
              <a:buSzPts val="1100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>
              <a:buClr>
                <a:schemeClr val="dk1"/>
              </a:buClr>
              <a:buSzPts val="1100"/>
            </a:pPr>
            <a:endParaRPr lang="en-US" sz="15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53DF08-644A-1A7A-EE03-8E6AC3DF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65" y="359580"/>
            <a:ext cx="7717500" cy="762000"/>
          </a:xfrm>
        </p:spPr>
        <p:txBody>
          <a:bodyPr/>
          <a:lstStyle/>
          <a:p>
            <a:r>
              <a:rPr lang="en-US" sz="2800" dirty="0"/>
              <a:t>References</a:t>
            </a:r>
            <a:endParaRPr lang="en-IN" sz="2800" dirty="0"/>
          </a:p>
        </p:txBody>
      </p:sp>
      <p:sp>
        <p:nvSpPr>
          <p:cNvPr id="7" name="Google Shape;192;p31">
            <a:extLst>
              <a:ext uri="{FF2B5EF4-FFF2-40B4-BE49-F238E27FC236}">
                <a16:creationId xmlns:a16="http://schemas.microsoft.com/office/drawing/2014/main" id="{22B116C6-0C33-0D9A-AE9A-5BD4559574CE}"/>
              </a:ext>
            </a:extLst>
          </p:cNvPr>
          <p:cNvSpPr txBox="1">
            <a:spLocks/>
          </p:cNvSpPr>
          <p:nvPr/>
        </p:nvSpPr>
        <p:spPr>
          <a:xfrm>
            <a:off x="1341119" y="1181101"/>
            <a:ext cx="6454141" cy="259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4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u="sng" dirty="0"/>
              <a:t>W3Schools</a:t>
            </a:r>
            <a:r>
              <a:rPr lang="en-US" dirty="0"/>
              <a:t> - Accessed for HTML and JavaScript tutorials for references.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u="sng" dirty="0"/>
              <a:t>Geeks-for-Geeks</a:t>
            </a:r>
            <a:r>
              <a:rPr lang="en-US" dirty="0"/>
              <a:t> -Used for backend and database implementation references.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u="sng" dirty="0"/>
              <a:t>Tutorials-Point</a:t>
            </a:r>
            <a:r>
              <a:rPr lang="en-US" dirty="0"/>
              <a:t>-General programming and project-related concepts.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College ERP &amp; Departmental Systems Case Studies (reviewed during literature survey).</a:t>
            </a: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 algn="just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566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648;p62">
            <a:extLst>
              <a:ext uri="{FF2B5EF4-FFF2-40B4-BE49-F238E27FC236}">
                <a16:creationId xmlns:a16="http://schemas.microsoft.com/office/drawing/2014/main" id="{92A98105-AAEE-BA03-8121-BD9F20FA66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163" y="1902600"/>
            <a:ext cx="5798287" cy="13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Thankyou!</a:t>
            </a:r>
            <a:endParaRPr dirty="0"/>
          </a:p>
        </p:txBody>
      </p:sp>
      <p:sp>
        <p:nvSpPr>
          <p:cNvPr id="3" name="Google Shape;298;p39">
            <a:extLst>
              <a:ext uri="{FF2B5EF4-FFF2-40B4-BE49-F238E27FC236}">
                <a16:creationId xmlns:a16="http://schemas.microsoft.com/office/drawing/2014/main" id="{986E3B3B-15DB-3660-2579-5BA7AD7AE0D6}"/>
              </a:ext>
            </a:extLst>
          </p:cNvPr>
          <p:cNvSpPr/>
          <p:nvPr/>
        </p:nvSpPr>
        <p:spPr>
          <a:xfrm flipH="1">
            <a:off x="4572000" y="4820099"/>
            <a:ext cx="4572000" cy="25967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98;p39">
            <a:extLst>
              <a:ext uri="{FF2B5EF4-FFF2-40B4-BE49-F238E27FC236}">
                <a16:creationId xmlns:a16="http://schemas.microsoft.com/office/drawing/2014/main" id="{0D62705B-10BC-4E9E-32DE-A255E3D89831}"/>
              </a:ext>
            </a:extLst>
          </p:cNvPr>
          <p:cNvSpPr/>
          <p:nvPr/>
        </p:nvSpPr>
        <p:spPr>
          <a:xfrm flipH="1">
            <a:off x="0" y="4820099"/>
            <a:ext cx="4572000" cy="25967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762</Words>
  <Application>Microsoft Office PowerPoint</Application>
  <PresentationFormat>On-screen Show (16:9)</PresentationFormat>
  <Paragraphs>178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Barlow</vt:lpstr>
      <vt:lpstr>Fira Sans Extra Condensed Medium</vt:lpstr>
      <vt:lpstr>Montserrat</vt:lpstr>
      <vt:lpstr>Wingdings</vt:lpstr>
      <vt:lpstr>Management Consulting Toolkit by Slidesgo</vt:lpstr>
      <vt:lpstr>I.T. Department Portal</vt:lpstr>
      <vt:lpstr>                          Introduction</vt:lpstr>
      <vt:lpstr>Literature Survey </vt:lpstr>
      <vt:lpstr>Problem Statement</vt:lpstr>
      <vt:lpstr>  Objectives</vt:lpstr>
      <vt:lpstr>PowerPoint Presentation</vt:lpstr>
      <vt:lpstr>Proposed System</vt:lpstr>
      <vt:lpstr>Proposed System </vt:lpstr>
      <vt:lpstr>System Requirements</vt:lpstr>
      <vt:lpstr>  System Architecture</vt:lpstr>
      <vt:lpstr>Implementation Details</vt:lpstr>
      <vt:lpstr>                     Result and Output </vt:lpstr>
      <vt:lpstr>                     Result and Output </vt:lpstr>
      <vt:lpstr>                     Result and Output</vt:lpstr>
      <vt:lpstr>                     Result and Output</vt:lpstr>
      <vt:lpstr>                     Result and Output </vt:lpstr>
      <vt:lpstr>                           Conclusion</vt:lpstr>
      <vt:lpstr>References</vt:lpstr>
      <vt:lpstr>Thankyou!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 Generator</dc:title>
  <dc:creator>Siddhesh</dc:creator>
  <cp:lastModifiedBy>Harshad Salunke</cp:lastModifiedBy>
  <cp:revision>12</cp:revision>
  <dcterms:modified xsi:type="dcterms:W3CDTF">2025-10-08T09:37:51Z</dcterms:modified>
</cp:coreProperties>
</file>